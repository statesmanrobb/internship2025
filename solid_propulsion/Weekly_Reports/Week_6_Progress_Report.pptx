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72" r:id="rId3"/>
    <p:sldId id="262" r:id="rId4"/>
    <p:sldId id="275" r:id="rId5"/>
    <p:sldId id="276" r:id="rId6"/>
    <p:sldId id="259" r:id="rId7"/>
    <p:sldId id="260" r:id="rId8"/>
    <p:sldId id="273" r:id="rId9"/>
    <p:sldId id="261" r:id="rId10"/>
    <p:sldId id="274" r:id="rId11"/>
    <p:sldId id="269"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618" autoAdjust="0"/>
    <p:restoredTop sz="94660"/>
  </p:normalViewPr>
  <p:slideViewPr>
    <p:cSldViewPr snapToGrid="0">
      <p:cViewPr varScale="1">
        <p:scale>
          <a:sx n="74" d="100"/>
          <a:sy n="74" d="100"/>
        </p:scale>
        <p:origin x="31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7/11/2025</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7/11/2025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7/11/2025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7/11/2025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7/11/2025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7/11/2025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7/11/2025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7/11/2025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7/11/2025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7/11/2025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7/11/2025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7/11/2025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7/11/2025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7/11/2025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7/11/2025</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7/11/2025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7/11/2025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7/11/2025</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E800B-6B4E-4406-ACAF-0DE4D30222E7}"/>
              </a:ext>
            </a:extLst>
          </p:cNvPr>
          <p:cNvSpPr>
            <a:spLocks noGrp="1"/>
          </p:cNvSpPr>
          <p:nvPr>
            <p:ph type="ctrTitle"/>
          </p:nvPr>
        </p:nvSpPr>
        <p:spPr/>
        <p:txBody>
          <a:bodyPr/>
          <a:lstStyle/>
          <a:p>
            <a:r>
              <a:rPr lang="en-US" dirty="0">
                <a:latin typeface="Arial Rounded MT Bold" panose="020F0704030504030204" pitchFamily="34" charset="0"/>
              </a:rPr>
              <a:t>NAKUJA 4 SOLID PROPULSION TEAM</a:t>
            </a:r>
          </a:p>
        </p:txBody>
      </p:sp>
      <p:sp>
        <p:nvSpPr>
          <p:cNvPr id="3" name="Subtitle 2">
            <a:extLst>
              <a:ext uri="{FF2B5EF4-FFF2-40B4-BE49-F238E27FC236}">
                <a16:creationId xmlns:a16="http://schemas.microsoft.com/office/drawing/2014/main" id="{20FD9C01-D900-4B98-BE40-F3EAFF4E30AC}"/>
              </a:ext>
            </a:extLst>
          </p:cNvPr>
          <p:cNvSpPr>
            <a:spLocks noGrp="1"/>
          </p:cNvSpPr>
          <p:nvPr>
            <p:ph type="subTitle" idx="1"/>
          </p:nvPr>
        </p:nvSpPr>
        <p:spPr/>
        <p:txBody>
          <a:bodyPr/>
          <a:lstStyle/>
          <a:p>
            <a:r>
              <a:rPr lang="en-US" dirty="0">
                <a:solidFill>
                  <a:schemeClr val="accent6"/>
                </a:solidFill>
              </a:rPr>
              <a:t>WEEK </a:t>
            </a:r>
            <a:r>
              <a:rPr lang="en-US" dirty="0" smtClean="0">
                <a:solidFill>
                  <a:schemeClr val="accent6"/>
                </a:solidFill>
              </a:rPr>
              <a:t>6 </a:t>
            </a:r>
            <a:r>
              <a:rPr lang="en-US" dirty="0">
                <a:solidFill>
                  <a:schemeClr val="accent6"/>
                </a:solidFill>
              </a:rPr>
              <a:t>PROGRESS </a:t>
            </a:r>
            <a:r>
              <a:rPr lang="en-US" dirty="0" smtClean="0">
                <a:solidFill>
                  <a:schemeClr val="accent6"/>
                </a:solidFill>
              </a:rPr>
              <a:t>report</a:t>
            </a:r>
            <a:endParaRPr lang="en-US" dirty="0">
              <a:solidFill>
                <a:schemeClr val="accent6"/>
              </a:solidFill>
            </a:endParaRPr>
          </a:p>
        </p:txBody>
      </p:sp>
    </p:spTree>
    <p:extLst>
      <p:ext uri="{BB962C8B-B14F-4D97-AF65-F5344CB8AC3E}">
        <p14:creationId xmlns:p14="http://schemas.microsoft.com/office/powerpoint/2010/main" val="28038051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6</a:t>
            </a:r>
            <a:r>
              <a:rPr lang="en-US" baseline="30000" dirty="0" smtClean="0"/>
              <a:t>th</a:t>
            </a:r>
            <a:r>
              <a:rPr lang="en-US" dirty="0" smtClean="0"/>
              <a:t> WEEK OBJECTIVES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592608055"/>
              </p:ext>
            </p:extLst>
          </p:nvPr>
        </p:nvGraphicFramePr>
        <p:xfrm>
          <a:off x="1761922" y="2570542"/>
          <a:ext cx="7612468" cy="3482216"/>
        </p:xfrm>
        <a:graphic>
          <a:graphicData uri="http://schemas.openxmlformats.org/drawingml/2006/table">
            <a:tbl>
              <a:tblPr/>
              <a:tblGrid>
                <a:gridCol w="3806234">
                  <a:extLst>
                    <a:ext uri="{9D8B030D-6E8A-4147-A177-3AD203B41FA5}">
                      <a16:colId xmlns:a16="http://schemas.microsoft.com/office/drawing/2014/main" val="2297631113"/>
                    </a:ext>
                  </a:extLst>
                </a:gridCol>
                <a:gridCol w="3806234">
                  <a:extLst>
                    <a:ext uri="{9D8B030D-6E8A-4147-A177-3AD203B41FA5}">
                      <a16:colId xmlns:a16="http://schemas.microsoft.com/office/drawing/2014/main" val="2051987126"/>
                    </a:ext>
                  </a:extLst>
                </a:gridCol>
              </a:tblGrid>
              <a:tr h="317795">
                <a:tc>
                  <a:txBody>
                    <a:bodyPr/>
                    <a:lstStyle/>
                    <a:p>
                      <a:r>
                        <a:rPr lang="en-US" sz="1600"/>
                        <a:t>Category</a:t>
                      </a:r>
                    </a:p>
                  </a:txBody>
                  <a:tcPr marL="79449" marR="79449" marT="39724" marB="39724" anchor="ctr">
                    <a:lnL>
                      <a:noFill/>
                    </a:lnL>
                    <a:lnR>
                      <a:noFill/>
                    </a:lnR>
                    <a:lnT>
                      <a:noFill/>
                    </a:lnT>
                    <a:lnB>
                      <a:noFill/>
                    </a:lnB>
                  </a:tcPr>
                </a:tc>
                <a:tc>
                  <a:txBody>
                    <a:bodyPr/>
                    <a:lstStyle/>
                    <a:p>
                      <a:r>
                        <a:rPr lang="en-US" sz="1600"/>
                        <a:t>Tasks</a:t>
                      </a:r>
                    </a:p>
                  </a:txBody>
                  <a:tcPr marL="79449" marR="79449" marT="39724" marB="39724" anchor="ctr">
                    <a:lnL>
                      <a:noFill/>
                    </a:lnL>
                    <a:lnR>
                      <a:noFill/>
                    </a:lnR>
                    <a:lnT>
                      <a:noFill/>
                    </a:lnT>
                    <a:lnB>
                      <a:noFill/>
                    </a:lnB>
                  </a:tcPr>
                </a:tc>
                <a:extLst>
                  <a:ext uri="{0D108BD9-81ED-4DB2-BD59-A6C34878D82A}">
                    <a16:rowId xmlns:a16="http://schemas.microsoft.com/office/drawing/2014/main" val="2483146932"/>
                  </a:ext>
                </a:extLst>
              </a:tr>
              <a:tr h="794488">
                <a:tc>
                  <a:txBody>
                    <a:bodyPr/>
                    <a:lstStyle/>
                    <a:p>
                      <a:r>
                        <a:rPr lang="en-US" sz="1600" dirty="0" smtClean="0"/>
                        <a:t> </a:t>
                      </a:r>
                      <a:r>
                        <a:rPr lang="en-US" sz="1600" dirty="0"/>
                        <a:t>Simulations</a:t>
                      </a:r>
                    </a:p>
                  </a:txBody>
                  <a:tcPr marL="79449" marR="79449" marT="39724" marB="39724" anchor="ctr">
                    <a:lnL>
                      <a:noFill/>
                    </a:lnL>
                    <a:lnR>
                      <a:noFill/>
                    </a:lnR>
                    <a:lnT>
                      <a:noFill/>
                    </a:lnT>
                    <a:lnB>
                      <a:noFill/>
                    </a:lnB>
                  </a:tcPr>
                </a:tc>
                <a:tc>
                  <a:txBody>
                    <a:bodyPr/>
                    <a:lstStyle/>
                    <a:p>
                      <a:r>
                        <a:rPr lang="en-US" sz="1600"/>
                        <a:t>- 5-Grain KNSB simulation (tail core comparison) - 1-Grain motor simulation - Igniter simulation</a:t>
                      </a:r>
                    </a:p>
                  </a:txBody>
                  <a:tcPr marL="79449" marR="79449" marT="39724" marB="39724" anchor="ctr">
                    <a:lnL>
                      <a:noFill/>
                    </a:lnL>
                    <a:lnR>
                      <a:noFill/>
                    </a:lnR>
                    <a:lnT>
                      <a:noFill/>
                    </a:lnT>
                    <a:lnB>
                      <a:noFill/>
                    </a:lnB>
                  </a:tcPr>
                </a:tc>
                <a:extLst>
                  <a:ext uri="{0D108BD9-81ED-4DB2-BD59-A6C34878D82A}">
                    <a16:rowId xmlns:a16="http://schemas.microsoft.com/office/drawing/2014/main" val="1694464474"/>
                  </a:ext>
                </a:extLst>
              </a:tr>
              <a:tr h="556142">
                <a:tc>
                  <a:txBody>
                    <a:bodyPr/>
                    <a:lstStyle/>
                    <a:p>
                      <a:r>
                        <a:rPr lang="en-US" sz="1600" dirty="0" smtClean="0"/>
                        <a:t> </a:t>
                      </a:r>
                      <a:r>
                        <a:rPr lang="en-US" sz="1600" dirty="0"/>
                        <a:t>Fabrication</a:t>
                      </a:r>
                    </a:p>
                  </a:txBody>
                  <a:tcPr marL="79449" marR="79449" marT="39724" marB="39724" anchor="ctr">
                    <a:lnL>
                      <a:noFill/>
                    </a:lnL>
                    <a:lnR>
                      <a:noFill/>
                    </a:lnR>
                    <a:lnT>
                      <a:noFill/>
                    </a:lnT>
                    <a:lnB>
                      <a:noFill/>
                    </a:lnB>
                  </a:tcPr>
                </a:tc>
                <a:tc>
                  <a:txBody>
                    <a:bodyPr/>
                    <a:lstStyle/>
                    <a:p>
                      <a:r>
                        <a:rPr lang="en-US" sz="1600"/>
                        <a:t>- Mandrel (pipe) - Bulkhead ×2 - Nozzle ×1</a:t>
                      </a:r>
                    </a:p>
                  </a:txBody>
                  <a:tcPr marL="79449" marR="79449" marT="39724" marB="39724" anchor="ctr">
                    <a:lnL>
                      <a:noFill/>
                    </a:lnL>
                    <a:lnR>
                      <a:noFill/>
                    </a:lnR>
                    <a:lnT>
                      <a:noFill/>
                    </a:lnT>
                    <a:lnB>
                      <a:noFill/>
                    </a:lnB>
                  </a:tcPr>
                </a:tc>
                <a:extLst>
                  <a:ext uri="{0D108BD9-81ED-4DB2-BD59-A6C34878D82A}">
                    <a16:rowId xmlns:a16="http://schemas.microsoft.com/office/drawing/2014/main" val="3665585425"/>
                  </a:ext>
                </a:extLst>
              </a:tr>
              <a:tr h="556142">
                <a:tc>
                  <a:txBody>
                    <a:bodyPr/>
                    <a:lstStyle/>
                    <a:p>
                      <a:r>
                        <a:rPr lang="en-US" sz="1600" dirty="0" smtClean="0"/>
                        <a:t> </a:t>
                      </a:r>
                      <a:r>
                        <a:rPr lang="en-US" sz="1600" dirty="0"/>
                        <a:t>Testing</a:t>
                      </a:r>
                    </a:p>
                  </a:txBody>
                  <a:tcPr marL="79449" marR="79449" marT="39724" marB="39724" anchor="ctr">
                    <a:lnL>
                      <a:noFill/>
                    </a:lnL>
                    <a:lnR>
                      <a:noFill/>
                    </a:lnR>
                    <a:lnT>
                      <a:noFill/>
                    </a:lnT>
                    <a:lnB>
                      <a:noFill/>
                    </a:lnB>
                  </a:tcPr>
                </a:tc>
                <a:tc>
                  <a:txBody>
                    <a:bodyPr/>
                    <a:lstStyle/>
                    <a:p>
                      <a:r>
                        <a:rPr lang="en-US" sz="1600"/>
                        <a:t>- Ignition system test - Test stand repair</a:t>
                      </a:r>
                    </a:p>
                  </a:txBody>
                  <a:tcPr marL="79449" marR="79449" marT="39724" marB="39724" anchor="ctr">
                    <a:lnL>
                      <a:noFill/>
                    </a:lnL>
                    <a:lnR>
                      <a:noFill/>
                    </a:lnR>
                    <a:lnT>
                      <a:noFill/>
                    </a:lnT>
                    <a:lnB>
                      <a:noFill/>
                    </a:lnB>
                  </a:tcPr>
                </a:tc>
                <a:extLst>
                  <a:ext uri="{0D108BD9-81ED-4DB2-BD59-A6C34878D82A}">
                    <a16:rowId xmlns:a16="http://schemas.microsoft.com/office/drawing/2014/main" val="1027720353"/>
                  </a:ext>
                </a:extLst>
              </a:tr>
              <a:tr h="317795">
                <a:tc>
                  <a:txBody>
                    <a:bodyPr/>
                    <a:lstStyle/>
                    <a:p>
                      <a:r>
                        <a:rPr lang="en-US" sz="1600" dirty="0" smtClean="0"/>
                        <a:t> </a:t>
                      </a:r>
                      <a:r>
                        <a:rPr lang="en-US" sz="1600" dirty="0"/>
                        <a:t>Procurement</a:t>
                      </a:r>
                    </a:p>
                  </a:txBody>
                  <a:tcPr marL="79449" marR="79449" marT="39724" marB="39724" anchor="ctr">
                    <a:lnL>
                      <a:noFill/>
                    </a:lnL>
                    <a:lnR>
                      <a:noFill/>
                    </a:lnR>
                    <a:lnT>
                      <a:noFill/>
                    </a:lnT>
                    <a:lnB>
                      <a:noFill/>
                    </a:lnB>
                  </a:tcPr>
                </a:tc>
                <a:tc>
                  <a:txBody>
                    <a:bodyPr/>
                    <a:lstStyle/>
                    <a:p>
                      <a:r>
                        <a:rPr lang="en-US" sz="1600"/>
                        <a:t>- Materials &amp; electronics</a:t>
                      </a:r>
                    </a:p>
                  </a:txBody>
                  <a:tcPr marL="79449" marR="79449" marT="39724" marB="39724" anchor="ctr">
                    <a:lnL>
                      <a:noFill/>
                    </a:lnL>
                    <a:lnR>
                      <a:noFill/>
                    </a:lnR>
                    <a:lnT>
                      <a:noFill/>
                    </a:lnT>
                    <a:lnB>
                      <a:noFill/>
                    </a:lnB>
                  </a:tcPr>
                </a:tc>
                <a:extLst>
                  <a:ext uri="{0D108BD9-81ED-4DB2-BD59-A6C34878D82A}">
                    <a16:rowId xmlns:a16="http://schemas.microsoft.com/office/drawing/2014/main" val="4033010982"/>
                  </a:ext>
                </a:extLst>
              </a:tr>
              <a:tr h="556142">
                <a:tc>
                  <a:txBody>
                    <a:bodyPr/>
                    <a:lstStyle/>
                    <a:p>
                      <a:r>
                        <a:rPr lang="en-US" sz="1600" dirty="0" smtClean="0"/>
                        <a:t> </a:t>
                      </a:r>
                      <a:r>
                        <a:rPr lang="en-US" sz="1600" dirty="0"/>
                        <a:t>UI/Software</a:t>
                      </a:r>
                    </a:p>
                  </a:txBody>
                  <a:tcPr marL="79449" marR="79449" marT="39724" marB="39724" anchor="ctr">
                    <a:lnL>
                      <a:noFill/>
                    </a:lnL>
                    <a:lnR>
                      <a:noFill/>
                    </a:lnR>
                    <a:lnT>
                      <a:noFill/>
                    </a:lnT>
                    <a:lnB>
                      <a:noFill/>
                    </a:lnB>
                  </a:tcPr>
                </a:tc>
                <a:tc>
                  <a:txBody>
                    <a:bodyPr/>
                    <a:lstStyle/>
                    <a:p>
                      <a:r>
                        <a:rPr lang="en-US" sz="1600"/>
                        <a:t>- Data dashboard UI (Sensor streaming)</a:t>
                      </a:r>
                    </a:p>
                  </a:txBody>
                  <a:tcPr marL="79449" marR="79449" marT="39724" marB="39724" anchor="ctr">
                    <a:lnL>
                      <a:noFill/>
                    </a:lnL>
                    <a:lnR>
                      <a:noFill/>
                    </a:lnR>
                    <a:lnT>
                      <a:noFill/>
                    </a:lnT>
                    <a:lnB>
                      <a:noFill/>
                    </a:lnB>
                  </a:tcPr>
                </a:tc>
                <a:extLst>
                  <a:ext uri="{0D108BD9-81ED-4DB2-BD59-A6C34878D82A}">
                    <a16:rowId xmlns:a16="http://schemas.microsoft.com/office/drawing/2014/main" val="357151626"/>
                  </a:ext>
                </a:extLst>
              </a:tr>
              <a:tr h="317795">
                <a:tc>
                  <a:txBody>
                    <a:bodyPr/>
                    <a:lstStyle/>
                    <a:p>
                      <a:r>
                        <a:rPr lang="en-US" sz="1600" dirty="0" smtClean="0"/>
                        <a:t> </a:t>
                      </a:r>
                      <a:r>
                        <a:rPr lang="en-US" sz="1600" dirty="0"/>
                        <a:t>3D Printing</a:t>
                      </a:r>
                    </a:p>
                  </a:txBody>
                  <a:tcPr marL="79449" marR="79449" marT="39724" marB="39724" anchor="ctr">
                    <a:lnL>
                      <a:noFill/>
                    </a:lnL>
                    <a:lnR>
                      <a:noFill/>
                    </a:lnR>
                    <a:lnT>
                      <a:noFill/>
                    </a:lnT>
                    <a:lnB>
                      <a:noFill/>
                    </a:lnB>
                  </a:tcPr>
                </a:tc>
                <a:tc>
                  <a:txBody>
                    <a:bodyPr/>
                    <a:lstStyle/>
                    <a:p>
                      <a:r>
                        <a:rPr lang="en-US" sz="1600" dirty="0"/>
                        <a:t>- Casting tool parts</a:t>
                      </a:r>
                    </a:p>
                  </a:txBody>
                  <a:tcPr marL="79449" marR="79449" marT="39724" marB="39724" anchor="ctr">
                    <a:lnL>
                      <a:noFill/>
                    </a:lnL>
                    <a:lnR>
                      <a:noFill/>
                    </a:lnR>
                    <a:lnT>
                      <a:noFill/>
                    </a:lnT>
                    <a:lnB>
                      <a:noFill/>
                    </a:lnB>
                  </a:tcPr>
                </a:tc>
                <a:extLst>
                  <a:ext uri="{0D108BD9-81ED-4DB2-BD59-A6C34878D82A}">
                    <a16:rowId xmlns:a16="http://schemas.microsoft.com/office/drawing/2014/main" val="3331303625"/>
                  </a:ext>
                </a:extLst>
              </a:tr>
            </a:tbl>
          </a:graphicData>
        </a:graphic>
      </p:graphicFrame>
    </p:spTree>
    <p:extLst>
      <p:ext uri="{BB962C8B-B14F-4D97-AF65-F5344CB8AC3E}">
        <p14:creationId xmlns:p14="http://schemas.microsoft.com/office/powerpoint/2010/main" val="1432486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B8C67-2E6F-47EF-A938-DCD13731557D}"/>
              </a:ext>
            </a:extLst>
          </p:cNvPr>
          <p:cNvSpPr>
            <a:spLocks noGrp="1"/>
          </p:cNvSpPr>
          <p:nvPr>
            <p:ph type="title"/>
          </p:nvPr>
        </p:nvSpPr>
        <p:spPr/>
        <p:txBody>
          <a:bodyPr/>
          <a:lstStyle/>
          <a:p>
            <a:r>
              <a:rPr lang="en-US" dirty="0" smtClean="0"/>
              <a:t>Grain simulations</a:t>
            </a:r>
            <a:endParaRPr lang="en-US" dirty="0"/>
          </a:p>
        </p:txBody>
      </p:sp>
      <p:sp>
        <p:nvSpPr>
          <p:cNvPr id="3" name="Content Placeholder 2">
            <a:extLst>
              <a:ext uri="{FF2B5EF4-FFF2-40B4-BE49-F238E27FC236}">
                <a16:creationId xmlns:a16="http://schemas.microsoft.com/office/drawing/2014/main" id="{B7166E70-E02A-4146-B50A-AF4764B53A57}"/>
              </a:ext>
            </a:extLst>
          </p:cNvPr>
          <p:cNvSpPr>
            <a:spLocks noGrp="1"/>
          </p:cNvSpPr>
          <p:nvPr>
            <p:ph idx="1"/>
          </p:nvPr>
        </p:nvSpPr>
        <p:spPr>
          <a:xfrm>
            <a:off x="1005840" y="2603500"/>
            <a:ext cx="8974773" cy="4254500"/>
          </a:xfrm>
        </p:spPr>
        <p:txBody>
          <a:bodyPr>
            <a:normAutofit lnSpcReduction="10000"/>
          </a:bodyPr>
          <a:lstStyle/>
          <a:p>
            <a:pPr marL="0" indent="0">
              <a:buNone/>
            </a:pPr>
            <a:r>
              <a:rPr lang="en-US" dirty="0" smtClean="0"/>
              <a:t>5-grain simulation;</a:t>
            </a:r>
          </a:p>
          <a:p>
            <a:pPr marL="0" indent="0">
              <a:buNone/>
            </a:pPr>
            <a:r>
              <a:rPr lang="en-US" dirty="0" smtClean="0"/>
              <a:t>     [set up A]</a:t>
            </a:r>
            <a:r>
              <a:rPr lang="it-IT" dirty="0"/>
              <a:t> Core Diameters: 33, 33, 33, 33, </a:t>
            </a:r>
            <a:r>
              <a:rPr lang="it-IT" b="1" dirty="0"/>
              <a:t>34 </a:t>
            </a:r>
            <a:r>
              <a:rPr lang="it-IT" b="1" dirty="0" smtClean="0"/>
              <a:t>mm</a:t>
            </a:r>
          </a:p>
          <a:p>
            <a:pPr marL="0" indent="0">
              <a:buNone/>
            </a:pPr>
            <a:r>
              <a:rPr lang="it-IT" b="1" dirty="0"/>
              <a:t> </a:t>
            </a:r>
            <a:r>
              <a:rPr lang="it-IT" b="1" dirty="0" smtClean="0"/>
              <a:t>   burn time:3.39s</a:t>
            </a:r>
          </a:p>
          <a:p>
            <a:pPr marL="0" indent="0">
              <a:buNone/>
            </a:pPr>
            <a:r>
              <a:rPr lang="it-IT" b="1" dirty="0"/>
              <a:t> </a:t>
            </a:r>
            <a:r>
              <a:rPr lang="it-IT" b="1" dirty="0" smtClean="0"/>
              <a:t>   impulse:8271.35Ns</a:t>
            </a:r>
          </a:p>
          <a:p>
            <a:pPr marL="0" indent="0">
              <a:buNone/>
            </a:pPr>
            <a:r>
              <a:rPr lang="it-IT" b="1" dirty="0"/>
              <a:t> </a:t>
            </a:r>
            <a:r>
              <a:rPr lang="it-IT" b="1" dirty="0" smtClean="0"/>
              <a:t>   peak mass flux:2.40 lb(in^2*s)(G:5)</a:t>
            </a:r>
          </a:p>
          <a:p>
            <a:pPr marL="0" indent="0">
              <a:buNone/>
            </a:pPr>
            <a:r>
              <a:rPr lang="en-US" dirty="0" smtClean="0"/>
              <a:t>[set up B]</a:t>
            </a:r>
            <a:r>
              <a:rPr lang="it-IT" dirty="0"/>
              <a:t> </a:t>
            </a:r>
            <a:r>
              <a:rPr lang="it-IT" dirty="0" smtClean="0"/>
              <a:t>Core </a:t>
            </a:r>
            <a:r>
              <a:rPr lang="it-IT" dirty="0"/>
              <a:t>Diameters: 33, 33, 33, 33, </a:t>
            </a:r>
            <a:r>
              <a:rPr lang="it-IT" b="1" dirty="0" smtClean="0"/>
              <a:t>38 </a:t>
            </a:r>
            <a:r>
              <a:rPr lang="it-IT" b="1" dirty="0"/>
              <a:t>mm</a:t>
            </a:r>
          </a:p>
          <a:p>
            <a:pPr marL="0" indent="0">
              <a:buNone/>
            </a:pPr>
            <a:r>
              <a:rPr lang="en-US" dirty="0" smtClean="0"/>
              <a:t>     </a:t>
            </a:r>
            <a:r>
              <a:rPr lang="it-IT" b="1" dirty="0" smtClean="0"/>
              <a:t>burn time:3.39s</a:t>
            </a:r>
          </a:p>
          <a:p>
            <a:pPr marL="0" indent="0">
              <a:buNone/>
            </a:pPr>
            <a:r>
              <a:rPr lang="it-IT" b="1" dirty="0" smtClean="0"/>
              <a:t>     impulse:8214.66Ns  </a:t>
            </a:r>
          </a:p>
          <a:p>
            <a:pPr marL="0" indent="0">
              <a:buNone/>
            </a:pPr>
            <a:r>
              <a:rPr lang="it-IT" b="1" dirty="0"/>
              <a:t> </a:t>
            </a:r>
            <a:r>
              <a:rPr lang="it-IT" b="1" dirty="0" smtClean="0"/>
              <a:t>    peak </a:t>
            </a:r>
            <a:r>
              <a:rPr lang="it-IT" b="1" dirty="0"/>
              <a:t>mass </a:t>
            </a:r>
            <a:r>
              <a:rPr lang="it-IT" b="1" dirty="0" smtClean="0"/>
              <a:t>flux:2.01 </a:t>
            </a:r>
            <a:r>
              <a:rPr lang="it-IT" b="1" dirty="0"/>
              <a:t>lb(in^2*s)(G:5</a:t>
            </a:r>
            <a:r>
              <a:rPr lang="it-IT" b="1" dirty="0" smtClean="0"/>
              <a:t>)</a:t>
            </a:r>
          </a:p>
          <a:p>
            <a:pPr marL="0" indent="0">
              <a:buNone/>
            </a:pPr>
            <a:r>
              <a:rPr lang="it-IT" b="1" dirty="0" smtClean="0"/>
              <a:t>Key observations</a:t>
            </a:r>
          </a:p>
          <a:p>
            <a:pPr marL="0" lvl="0" indent="0" defTabSz="914400" eaLnBrk="0" fontAlgn="base" hangingPunct="0">
              <a:spcBef>
                <a:spcPct val="0"/>
              </a:spcBef>
              <a:spcAft>
                <a:spcPct val="0"/>
              </a:spcAft>
              <a:buClrTx/>
              <a:buSzTx/>
              <a:buFontTx/>
              <a:buChar char="•"/>
            </a:pPr>
            <a:r>
              <a:rPr lang="en-US" altLang="en-US" dirty="0">
                <a:solidFill>
                  <a:schemeClr val="tx1"/>
                </a:solidFill>
                <a:latin typeface="Arial" panose="020B0604020202020204" pitchFamily="34" charset="0"/>
              </a:rPr>
              <a:t>Moderate thrust boost with 34 mm</a:t>
            </a:r>
          </a:p>
          <a:p>
            <a:pPr marL="0" lvl="0" indent="0" defTabSz="914400" eaLnBrk="0" fontAlgn="base" hangingPunct="0">
              <a:spcBef>
                <a:spcPct val="0"/>
              </a:spcBef>
              <a:spcAft>
                <a:spcPct val="0"/>
              </a:spcAft>
              <a:buClrTx/>
              <a:buSzTx/>
              <a:buFontTx/>
              <a:buChar char="•"/>
            </a:pPr>
            <a:r>
              <a:rPr lang="en-US" altLang="en-US" dirty="0">
                <a:solidFill>
                  <a:schemeClr val="tx1"/>
                </a:solidFill>
                <a:latin typeface="Arial" panose="020B0604020202020204" pitchFamily="34" charset="0"/>
              </a:rPr>
              <a:t>Stable pressure profile (no overshoot)</a:t>
            </a:r>
          </a:p>
          <a:p>
            <a:pPr marL="0" indent="0">
              <a:buNone/>
            </a:pPr>
            <a:endParaRPr lang="it-IT" b="1" dirty="0" smtClean="0"/>
          </a:p>
          <a:p>
            <a:pPr marL="0" indent="0">
              <a:buNone/>
            </a:pPr>
            <a:endParaRPr lang="it-IT" b="1" dirty="0"/>
          </a:p>
          <a:p>
            <a:pPr marL="0" indent="0">
              <a:buNone/>
            </a:pPr>
            <a:endParaRPr lang="it-IT" b="1" dirty="0" smtClean="0"/>
          </a:p>
          <a:p>
            <a:pPr marL="0" indent="0">
              <a:buNone/>
            </a:pPr>
            <a:endParaRPr lang="it-IT" b="1" dirty="0"/>
          </a:p>
          <a:p>
            <a:pPr marL="0" indent="0">
              <a:buNone/>
            </a:pPr>
            <a:endParaRPr lang="it-IT" b="1" dirty="0" smtClean="0"/>
          </a:p>
          <a:p>
            <a:pPr marL="0" indent="0">
              <a:buNone/>
            </a:pPr>
            <a:endParaRPr lang="it-IT" b="1" dirty="0"/>
          </a:p>
          <a:p>
            <a:pPr marL="0" indent="0">
              <a:buNone/>
            </a:pPr>
            <a:endParaRPr lang="it-IT" b="1" dirty="0" smtClean="0"/>
          </a:p>
          <a:p>
            <a:pPr marL="0" indent="0">
              <a:buNone/>
            </a:pPr>
            <a:endParaRPr lang="it-IT" b="1" dirty="0" smtClean="0"/>
          </a:p>
          <a:p>
            <a:pPr marL="0" indent="0">
              <a:buNone/>
            </a:pPr>
            <a:endParaRPr lang="en-US" dirty="0"/>
          </a:p>
        </p:txBody>
      </p:sp>
    </p:spTree>
    <p:extLst>
      <p:ext uri="{BB962C8B-B14F-4D97-AF65-F5344CB8AC3E}">
        <p14:creationId xmlns:p14="http://schemas.microsoft.com/office/powerpoint/2010/main" val="117758443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5- Grain simulation for set up A</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60435" y="2614789"/>
            <a:ext cx="6202643" cy="3416300"/>
          </a:xfrm>
        </p:spPr>
      </p:pic>
    </p:spTree>
    <p:extLst>
      <p:ext uri="{BB962C8B-B14F-4D97-AF65-F5344CB8AC3E}">
        <p14:creationId xmlns:p14="http://schemas.microsoft.com/office/powerpoint/2010/main" val="14988595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Grain simulation for set up </a:t>
            </a:r>
            <a:r>
              <a:rPr lang="en-US" dirty="0" smtClean="0"/>
              <a:t>B</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35657" y="2603500"/>
            <a:ext cx="6064998" cy="3416300"/>
          </a:xfrm>
        </p:spPr>
      </p:pic>
    </p:spTree>
    <p:extLst>
      <p:ext uri="{BB962C8B-B14F-4D97-AF65-F5344CB8AC3E}">
        <p14:creationId xmlns:p14="http://schemas.microsoft.com/office/powerpoint/2010/main" val="21124751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73C44-45B6-4081-A140-918EFB1207E5}"/>
              </a:ext>
            </a:extLst>
          </p:cNvPr>
          <p:cNvSpPr>
            <a:spLocks noGrp="1"/>
          </p:cNvSpPr>
          <p:nvPr>
            <p:ph type="title"/>
          </p:nvPr>
        </p:nvSpPr>
        <p:spPr/>
        <p:txBody>
          <a:bodyPr/>
          <a:lstStyle/>
          <a:p>
            <a:r>
              <a:rPr lang="en-US" dirty="0" smtClean="0"/>
              <a:t>Motor holder modification</a:t>
            </a:r>
            <a:endParaRPr lang="en-US" dirty="0"/>
          </a:p>
        </p:txBody>
      </p:sp>
      <p:pic>
        <p:nvPicPr>
          <p:cNvPr id="4" name="Content Placeholder 3"/>
          <p:cNvPicPr>
            <a:picLocks noGrp="1" noChangeAspect="1"/>
          </p:cNvPicPr>
          <p:nvPr>
            <p:ph type="pic" idx="1"/>
          </p:nvPr>
        </p:nvPicPr>
        <p:blipFill>
          <a:blip r:embed="rId2">
            <a:extLst>
              <a:ext uri="{28A0092B-C50C-407E-A947-70E740481C1C}">
                <a14:useLocalDpi xmlns:a14="http://schemas.microsoft.com/office/drawing/2010/main" val="0"/>
              </a:ext>
            </a:extLst>
          </a:blip>
          <a:srcRect l="16578" r="16578"/>
          <a:stretch>
            <a:fillRect/>
          </a:stretch>
        </p:blipFill>
        <p:spPr/>
      </p:pic>
      <p:sp>
        <p:nvSpPr>
          <p:cNvPr id="5" name="Text Placeholder 4"/>
          <p:cNvSpPr>
            <a:spLocks noGrp="1"/>
          </p:cNvSpPr>
          <p:nvPr>
            <p:ph type="body" sz="half" idx="2"/>
          </p:nvPr>
        </p:nvSpPr>
        <p:spPr/>
        <p:txBody>
          <a:bodyPr/>
          <a:lstStyle/>
          <a:p>
            <a:r>
              <a:rPr lang="en-US" dirty="0" smtClean="0"/>
              <a:t>This was done due to the requirement to fit the pressure fitting equipment.</a:t>
            </a:r>
          </a:p>
          <a:p>
            <a:endParaRPr lang="en-US" dirty="0"/>
          </a:p>
        </p:txBody>
      </p:sp>
    </p:spTree>
    <p:extLst>
      <p:ext uri="{BB962C8B-B14F-4D97-AF65-F5344CB8AC3E}">
        <p14:creationId xmlns:p14="http://schemas.microsoft.com/office/powerpoint/2010/main" val="4293575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C2D01-315C-4615-896C-13F59C752558}"/>
              </a:ext>
            </a:extLst>
          </p:cNvPr>
          <p:cNvSpPr>
            <a:spLocks noGrp="1"/>
          </p:cNvSpPr>
          <p:nvPr>
            <p:ph type="title"/>
          </p:nvPr>
        </p:nvSpPr>
        <p:spPr/>
        <p:txBody>
          <a:bodyPr/>
          <a:lstStyle/>
          <a:p>
            <a:r>
              <a:rPr lang="en-US" dirty="0"/>
              <a:t>Sensor Data UI – HTML + JS + Node.js</a:t>
            </a:r>
          </a:p>
        </p:txBody>
      </p:sp>
      <p:sp>
        <p:nvSpPr>
          <p:cNvPr id="3" name="Content Placeholder 2">
            <a:extLst>
              <a:ext uri="{FF2B5EF4-FFF2-40B4-BE49-F238E27FC236}">
                <a16:creationId xmlns:a16="http://schemas.microsoft.com/office/drawing/2014/main" id="{949DBAD4-111D-4D13-96C1-A1F4DD109222}"/>
              </a:ext>
            </a:extLst>
          </p:cNvPr>
          <p:cNvSpPr>
            <a:spLocks noGrp="1"/>
          </p:cNvSpPr>
          <p:nvPr>
            <p:ph idx="1"/>
          </p:nvPr>
        </p:nvSpPr>
        <p:spPr/>
        <p:txBody>
          <a:bodyPr/>
          <a:lstStyle/>
          <a:p>
            <a:pPr marL="0" indent="0">
              <a:buNone/>
            </a:pPr>
            <a:endParaRPr lang="en-US" dirty="0"/>
          </a:p>
          <a:p>
            <a:endParaRPr lang="en-US" dirty="0"/>
          </a:p>
        </p:txBody>
      </p:sp>
      <p:pic>
        <p:nvPicPr>
          <p:cNvPr id="4" name="Picture 3"/>
          <p:cNvPicPr>
            <a:picLocks noChangeAspect="1"/>
          </p:cNvPicPr>
          <p:nvPr/>
        </p:nvPicPr>
        <p:blipFill>
          <a:blip r:embed="rId2"/>
          <a:stretch>
            <a:fillRect/>
          </a:stretch>
        </p:blipFill>
        <p:spPr>
          <a:xfrm>
            <a:off x="583284" y="2153839"/>
            <a:ext cx="4661209" cy="3865961"/>
          </a:xfrm>
          <a:prstGeom prst="rect">
            <a:avLst/>
          </a:prstGeom>
        </p:spPr>
      </p:pic>
      <p:pic>
        <p:nvPicPr>
          <p:cNvPr id="6" name="Picture 5"/>
          <p:cNvPicPr>
            <a:picLocks noChangeAspect="1"/>
          </p:cNvPicPr>
          <p:nvPr/>
        </p:nvPicPr>
        <p:blipFill>
          <a:blip r:embed="rId3"/>
          <a:stretch>
            <a:fillRect/>
          </a:stretch>
        </p:blipFill>
        <p:spPr>
          <a:xfrm>
            <a:off x="5344739" y="2087033"/>
            <a:ext cx="6350551" cy="3932767"/>
          </a:xfrm>
          <a:prstGeom prst="rect">
            <a:avLst/>
          </a:prstGeom>
        </p:spPr>
      </p:pic>
    </p:spTree>
    <p:extLst>
      <p:ext uri="{BB962C8B-B14F-4D97-AF65-F5344CB8AC3E}">
        <p14:creationId xmlns:p14="http://schemas.microsoft.com/office/powerpoint/2010/main" val="406106589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Ui</a:t>
            </a:r>
            <a:r>
              <a:rPr lang="en-US" dirty="0" smtClean="0"/>
              <a:t> workability</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b="1" dirty="0"/>
              <a:t>Frontend Built with HTML &amp; JavaScript</a:t>
            </a:r>
            <a:endParaRPr lang="en-US" dirty="0"/>
          </a:p>
          <a:p>
            <a:pPr marL="0" indent="0">
              <a:buNone/>
            </a:pPr>
            <a:r>
              <a:rPr lang="en-US" dirty="0" smtClean="0"/>
              <a:t>  Custom-designed </a:t>
            </a:r>
            <a:r>
              <a:rPr lang="en-US" dirty="0"/>
              <a:t>dashboard interface for displaying sensor </a:t>
            </a:r>
            <a:r>
              <a:rPr lang="en-US" dirty="0" smtClean="0"/>
              <a:t>data</a:t>
            </a:r>
          </a:p>
          <a:p>
            <a:pPr>
              <a:buFont typeface="Wingdings" panose="05000000000000000000" pitchFamily="2" charset="2"/>
              <a:buChar char="Ø"/>
            </a:pPr>
            <a:r>
              <a:rPr lang="en-US" b="1" dirty="0" smtClean="0"/>
              <a:t>Node.js Server Handles Data Streaming</a:t>
            </a:r>
          </a:p>
          <a:p>
            <a:pPr marL="0" indent="0">
              <a:buNone/>
            </a:pPr>
            <a:r>
              <a:rPr lang="en-US" dirty="0" smtClean="0"/>
              <a:t>Uses </a:t>
            </a:r>
            <a:r>
              <a:rPr lang="en-US" dirty="0" err="1"/>
              <a:t>WebSocket</a:t>
            </a:r>
            <a:r>
              <a:rPr lang="en-US" dirty="0"/>
              <a:t> </a:t>
            </a:r>
            <a:r>
              <a:rPr lang="en-US" dirty="0" smtClean="0"/>
              <a:t> to </a:t>
            </a:r>
            <a:r>
              <a:rPr lang="en-US" dirty="0"/>
              <a:t>push data to the frontend </a:t>
            </a:r>
            <a:r>
              <a:rPr lang="en-US" dirty="0" smtClean="0"/>
              <a:t>continuously</a:t>
            </a:r>
          </a:p>
          <a:p>
            <a:pPr>
              <a:buFont typeface="Wingdings" panose="05000000000000000000" pitchFamily="2" charset="2"/>
              <a:buChar char="Ø"/>
            </a:pPr>
            <a:r>
              <a:rPr lang="en-US" b="1" dirty="0"/>
              <a:t>Simulated Client Feeds Real-Time </a:t>
            </a:r>
            <a:r>
              <a:rPr lang="en-US" b="1" dirty="0" smtClean="0"/>
              <a:t>Data</a:t>
            </a:r>
          </a:p>
          <a:p>
            <a:pPr marL="0" indent="0">
              <a:buNone/>
            </a:pPr>
            <a:r>
              <a:rPr lang="en-US" dirty="0" smtClean="0"/>
              <a:t>Mimics </a:t>
            </a:r>
            <a:r>
              <a:rPr lang="en-US" dirty="0"/>
              <a:t>sensor values (pressure, thrust, temperature) for </a:t>
            </a:r>
            <a:r>
              <a:rPr lang="en-US" dirty="0" smtClean="0"/>
              <a:t>testing</a:t>
            </a:r>
          </a:p>
          <a:p>
            <a:pPr marL="0" indent="0">
              <a:buNone/>
            </a:pPr>
            <a:r>
              <a:rPr lang="en-US" dirty="0"/>
              <a:t>The current simulated setup can be easily replaced with live data from ESP32</a:t>
            </a:r>
            <a:endParaRPr lang="en-US" b="1" dirty="0"/>
          </a:p>
        </p:txBody>
      </p:sp>
    </p:spTree>
    <p:extLst>
      <p:ext uri="{BB962C8B-B14F-4D97-AF65-F5344CB8AC3E}">
        <p14:creationId xmlns:p14="http://schemas.microsoft.com/office/powerpoint/2010/main" val="58051619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D3400-A95C-4F05-B067-F30F65C992BC}"/>
              </a:ext>
            </a:extLst>
          </p:cNvPr>
          <p:cNvSpPr>
            <a:spLocks noGrp="1"/>
          </p:cNvSpPr>
          <p:nvPr>
            <p:ph type="title"/>
          </p:nvPr>
        </p:nvSpPr>
        <p:spPr/>
        <p:txBody>
          <a:bodyPr/>
          <a:lstStyle/>
          <a:p>
            <a:r>
              <a:rPr lang="en-US" dirty="0" smtClean="0"/>
              <a:t>Mandrel fabrication</a:t>
            </a:r>
            <a:endParaRPr lang="en-US" dirty="0"/>
          </a:p>
        </p:txBody>
      </p:sp>
      <p:sp>
        <p:nvSpPr>
          <p:cNvPr id="3" name="Content Placeholder 2">
            <a:extLst>
              <a:ext uri="{FF2B5EF4-FFF2-40B4-BE49-F238E27FC236}">
                <a16:creationId xmlns:a16="http://schemas.microsoft.com/office/drawing/2014/main" id="{47C2D04A-6A6C-4177-BC8D-F32CEBAECED3}"/>
              </a:ext>
            </a:extLst>
          </p:cNvPr>
          <p:cNvSpPr>
            <a:spLocks noGrp="1"/>
          </p:cNvSpPr>
          <p:nvPr>
            <p:ph idx="1"/>
          </p:nvPr>
        </p:nvSpPr>
        <p:spPr/>
        <p:txBody>
          <a:bodyPr/>
          <a:lstStyle/>
          <a:p>
            <a:pPr marL="0" indent="0">
              <a:buNone/>
            </a:pPr>
            <a:r>
              <a:rPr lang="en-US" dirty="0"/>
              <a:t>Mandrel fabrication is currently in progress but has been temporarily halted due to the depletion of epoxy and hardener. Procurement for the required materials has been initiated to resume the process.</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4954" y="3601155"/>
            <a:ext cx="6571387" cy="3127023"/>
          </a:xfrm>
          <a:prstGeom prst="rect">
            <a:avLst/>
          </a:prstGeom>
        </p:spPr>
      </p:pic>
    </p:spTree>
    <p:extLst>
      <p:ext uri="{BB962C8B-B14F-4D97-AF65-F5344CB8AC3E}">
        <p14:creationId xmlns:p14="http://schemas.microsoft.com/office/powerpoint/2010/main" val="12603990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procurement</a:t>
            </a:r>
            <a:endParaRPr lang="en-US" dirty="0"/>
          </a:p>
        </p:txBody>
      </p:sp>
      <p:sp>
        <p:nvSpPr>
          <p:cNvPr id="3" name="Content Placeholder 2"/>
          <p:cNvSpPr>
            <a:spLocks noGrp="1"/>
          </p:cNvSpPr>
          <p:nvPr>
            <p:ph idx="1"/>
          </p:nvPr>
        </p:nvSpPr>
        <p:spPr>
          <a:xfrm>
            <a:off x="669531" y="2524478"/>
            <a:ext cx="8825659" cy="3416300"/>
          </a:xfrm>
        </p:spPr>
        <p:txBody>
          <a:bodyPr/>
          <a:lstStyle/>
          <a:p>
            <a:r>
              <a:rPr lang="en-US" dirty="0"/>
              <a:t>A comprehensive procurement list was prepared to support ongoing fabrication, testing, and system integration tasks. While some items have already been requested, others remain pending due to budget or access constraints. Timely acquisition of these materials is essential to resume </a:t>
            </a:r>
            <a:r>
              <a:rPr lang="en-US" dirty="0" smtClean="0"/>
              <a:t>halted </a:t>
            </a:r>
            <a:r>
              <a:rPr lang="en-US" dirty="0"/>
              <a:t>processes such as mandrel fabrication and test stand repair</a:t>
            </a:r>
            <a:r>
              <a:rPr lang="en-US" dirty="0" smtClean="0"/>
              <a:t>.</a:t>
            </a:r>
          </a:p>
          <a:p>
            <a:r>
              <a:rPr lang="en-US" dirty="0"/>
              <a:t>https://docs.google.com/spreadsheets/d/14YRcJAnbKLYfZXIksleHOWmt7rT3NkBsljoMaEVurcI/edit?gid=1712813840#gid=1712813840</a:t>
            </a:r>
          </a:p>
        </p:txBody>
      </p:sp>
    </p:spTree>
    <p:extLst>
      <p:ext uri="{BB962C8B-B14F-4D97-AF65-F5344CB8AC3E}">
        <p14:creationId xmlns:p14="http://schemas.microsoft.com/office/powerpoint/2010/main" val="3084160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EC005-65F3-4735-94A1-EADD9D006617}"/>
              </a:ext>
            </a:extLst>
          </p:cNvPr>
          <p:cNvSpPr>
            <a:spLocks noGrp="1"/>
          </p:cNvSpPr>
          <p:nvPr>
            <p:ph type="title"/>
          </p:nvPr>
        </p:nvSpPr>
        <p:spPr/>
        <p:txBody>
          <a:bodyPr/>
          <a:lstStyle/>
          <a:p>
            <a:r>
              <a:rPr lang="en-US" dirty="0" smtClean="0"/>
              <a:t>HAVE A GREAT WEEKEND</a:t>
            </a:r>
            <a:endParaRPr lang="en-US" dirty="0"/>
          </a:p>
        </p:txBody>
      </p:sp>
      <p:sp>
        <p:nvSpPr>
          <p:cNvPr id="3" name="Content Placeholder 2">
            <a:extLst>
              <a:ext uri="{FF2B5EF4-FFF2-40B4-BE49-F238E27FC236}">
                <a16:creationId xmlns:a16="http://schemas.microsoft.com/office/drawing/2014/main" id="{45477420-CB92-42B6-8662-C51C0439DC03}"/>
              </a:ext>
            </a:extLst>
          </p:cNvPr>
          <p:cNvSpPr>
            <a:spLocks noGrp="1"/>
          </p:cNvSpPr>
          <p:nvPr>
            <p:ph idx="1"/>
          </p:nvPr>
        </p:nvSpPr>
        <p:spPr>
          <a:xfrm>
            <a:off x="1154954" y="2901244"/>
            <a:ext cx="9388868" cy="3118556"/>
          </a:xfrm>
        </p:spPr>
        <p:txBody>
          <a:bodyPr>
            <a:normAutofit/>
          </a:bodyPr>
          <a:lstStyle/>
          <a:p>
            <a:pPr marL="0" indent="0">
              <a:buNone/>
            </a:pPr>
            <a:r>
              <a:rPr lang="en-US" sz="2400" dirty="0"/>
              <a:t> </a:t>
            </a:r>
            <a:r>
              <a:rPr lang="en-US" sz="2400" dirty="0" smtClean="0"/>
              <a:t>                     </a:t>
            </a:r>
            <a:r>
              <a:rPr lang="en-US" sz="7200" b="1" dirty="0" smtClean="0">
                <a:solidFill>
                  <a:schemeClr val="accent5">
                    <a:lumMod val="75000"/>
                  </a:schemeClr>
                </a:solidFill>
              </a:rPr>
              <a:t>THANK YOU</a:t>
            </a:r>
          </a:p>
          <a:p>
            <a:pPr marL="0" indent="0">
              <a:buNone/>
            </a:pPr>
            <a:endParaRPr lang="en-US" sz="2400" dirty="0"/>
          </a:p>
        </p:txBody>
      </p:sp>
    </p:spTree>
    <p:extLst>
      <p:ext uri="{BB962C8B-B14F-4D97-AF65-F5344CB8AC3E}">
        <p14:creationId xmlns:p14="http://schemas.microsoft.com/office/powerpoint/2010/main" val="329303225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398</TotalTime>
  <Words>366</Words>
  <Application>Microsoft Office PowerPoint</Application>
  <PresentationFormat>Widescreen</PresentationFormat>
  <Paragraphs>57</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Arial Rounded MT Bold</vt:lpstr>
      <vt:lpstr>Century Gothic</vt:lpstr>
      <vt:lpstr>Wingdings</vt:lpstr>
      <vt:lpstr>Wingdings 3</vt:lpstr>
      <vt:lpstr>Ion Boardroom</vt:lpstr>
      <vt:lpstr>NAKUJA 4 SOLID PROPULSION TEAM</vt:lpstr>
      <vt:lpstr>  6th WEEK OBJECTIVES</vt:lpstr>
      <vt:lpstr>Grain simulations</vt:lpstr>
      <vt:lpstr>5- Grain simulation for set up A</vt:lpstr>
      <vt:lpstr>5- Grain simulation for set up B</vt:lpstr>
      <vt:lpstr>Motor holder modification</vt:lpstr>
      <vt:lpstr>Sensor Data UI – HTML + JS + Node.js</vt:lpstr>
      <vt:lpstr>Ui workability</vt:lpstr>
      <vt:lpstr>Mandrel fabrication</vt:lpstr>
      <vt:lpstr>procurement</vt:lpstr>
      <vt:lpstr>HAVE A GREAT WEEKEND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NAKUJA 4 SOLID PROPULSION TEAM</dc:title>
  <dc:creator>MUTHUI WA MWANGI</dc:creator>
  <cp:lastModifiedBy>Ryan ndirangu</cp:lastModifiedBy>
  <cp:revision>32</cp:revision>
  <dcterms:created xsi:type="dcterms:W3CDTF">2025-07-04T06:52:10Z</dcterms:created>
  <dcterms:modified xsi:type="dcterms:W3CDTF">2025-07-11T06:25:12Z</dcterms:modified>
</cp:coreProperties>
</file>