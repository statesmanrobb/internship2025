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72" r:id="rId4"/>
    <p:sldId id="262" r:id="rId5"/>
    <p:sldId id="275" r:id="rId6"/>
    <p:sldId id="276" r:id="rId7"/>
    <p:sldId id="260" r:id="rId8"/>
    <p:sldId id="277" r:id="rId9"/>
    <p:sldId id="27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8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3F38EA-F9A6-4257-98D2-9E626C1E22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9EF1120-98F9-4FFD-BD85-FD5000D358F5}">
      <dgm:prSet/>
      <dgm:spPr/>
      <dgm:t>
        <a:bodyPr/>
        <a:lstStyle/>
        <a:p>
          <a:pPr rtl="0"/>
          <a:r>
            <a:rPr lang="en-US" b="0" i="0" dirty="0" smtClean="0"/>
            <a:t>NAKUJA 4 SOLID PROPULSION TEAM</a:t>
          </a:r>
          <a:endParaRPr lang="en-US" dirty="0"/>
        </a:p>
      </dgm:t>
    </dgm:pt>
    <dgm:pt modelId="{38BEEE15-4F32-4F2B-AB1A-6E54DF0F86E7}" cxnId="{244D389C-3E5D-45D5-8524-DA5E7C5479F6}" type="parTrans">
      <dgm:prSet/>
      <dgm:spPr/>
      <dgm:t>
        <a:bodyPr/>
        <a:lstStyle/>
        <a:p>
          <a:endParaRPr lang="en-US"/>
        </a:p>
      </dgm:t>
    </dgm:pt>
    <dgm:pt modelId="{B54A3E49-6DC5-4446-A0B4-303E7E4E6A4F}" cxnId="{244D389C-3E5D-45D5-8524-DA5E7C5479F6}" type="sibTrans">
      <dgm:prSet/>
      <dgm:spPr/>
      <dgm:t>
        <a:bodyPr/>
        <a:lstStyle/>
        <a:p>
          <a:endParaRPr lang="en-US"/>
        </a:p>
      </dgm:t>
    </dgm:pt>
    <dgm:pt modelId="{22A32511-2428-40AF-BEAA-AE3B5D35F46E}" type="pres">
      <dgm:prSet presAssocID="{5E3F38EA-F9A6-4257-98D2-9E626C1E22B8}" presName="linear" presStyleCnt="0">
        <dgm:presLayoutVars>
          <dgm:animLvl val="lvl"/>
          <dgm:resizeHandles val="exact"/>
        </dgm:presLayoutVars>
      </dgm:prSet>
      <dgm:spPr/>
    </dgm:pt>
    <dgm:pt modelId="{71E0694D-5797-4DE7-A953-9CA02ADFF4A7}" type="pres">
      <dgm:prSet presAssocID="{99EF1120-98F9-4FFD-BD85-FD5000D358F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A140CA1-DD80-43A0-8769-052EC4564E3E}" type="presOf" srcId="{99EF1120-98F9-4FFD-BD85-FD5000D358F5}" destId="{71E0694D-5797-4DE7-A953-9CA02ADFF4A7}" srcOrd="0" destOrd="0" presId="urn:microsoft.com/office/officeart/2005/8/layout/vList2"/>
    <dgm:cxn modelId="{244D389C-3E5D-45D5-8524-DA5E7C5479F6}" srcId="{5E3F38EA-F9A6-4257-98D2-9E626C1E22B8}" destId="{99EF1120-98F9-4FFD-BD85-FD5000D358F5}" srcOrd="0" destOrd="0" parTransId="{38BEEE15-4F32-4F2B-AB1A-6E54DF0F86E7}" sibTransId="{B54A3E49-6DC5-4446-A0B4-303E7E4E6A4F}"/>
    <dgm:cxn modelId="{03D76F27-BD94-4FB1-92DC-AB18511E94BC}" type="presOf" srcId="{5E3F38EA-F9A6-4257-98D2-9E626C1E22B8}" destId="{22A32511-2428-40AF-BEAA-AE3B5D35F46E}" srcOrd="0" destOrd="0" presId="urn:microsoft.com/office/officeart/2005/8/layout/vList2"/>
    <dgm:cxn modelId="{35F8F255-F459-4624-8B1A-D09D2F9084DB}" type="presParOf" srcId="{22A32511-2428-40AF-BEAA-AE3B5D35F46E}" destId="{71E0694D-5797-4DE7-A953-9CA02ADFF4A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87515A-5362-4A6B-8654-7AB10417D46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0B7ED16-2811-44AE-B08A-96D980067803}">
      <dgm:prSet/>
      <dgm:spPr/>
      <dgm:t>
        <a:bodyPr/>
        <a:lstStyle/>
        <a:p>
          <a:pPr rtl="0"/>
          <a:r>
            <a:rPr lang="en-US" b="0" i="0" dirty="0" smtClean="0"/>
            <a:t>WEEK 7 PROGRESS report</a:t>
          </a:r>
          <a:endParaRPr lang="en-US" dirty="0"/>
        </a:p>
      </dgm:t>
    </dgm:pt>
    <dgm:pt modelId="{65FE3DA2-A8EA-4863-BBDC-2303F7A585E8}" cxnId="{623A1A87-39AC-46CC-86C0-4C824F6F76CF}" type="parTrans">
      <dgm:prSet/>
      <dgm:spPr/>
      <dgm:t>
        <a:bodyPr/>
        <a:lstStyle/>
        <a:p>
          <a:endParaRPr lang="en-US"/>
        </a:p>
      </dgm:t>
    </dgm:pt>
    <dgm:pt modelId="{DD2829FD-7270-4907-83F3-5DCB66CD9627}" cxnId="{623A1A87-39AC-46CC-86C0-4C824F6F76CF}" type="sibTrans">
      <dgm:prSet/>
      <dgm:spPr/>
      <dgm:t>
        <a:bodyPr/>
        <a:lstStyle/>
        <a:p>
          <a:endParaRPr lang="en-US"/>
        </a:p>
      </dgm:t>
    </dgm:pt>
    <dgm:pt modelId="{F8CC9C99-A496-4CB0-8D47-40D6DA5E41DF}" type="pres">
      <dgm:prSet presAssocID="{6A87515A-5362-4A6B-8654-7AB10417D46F}" presName="linear" presStyleCnt="0">
        <dgm:presLayoutVars>
          <dgm:animLvl val="lvl"/>
          <dgm:resizeHandles val="exact"/>
        </dgm:presLayoutVars>
      </dgm:prSet>
      <dgm:spPr/>
    </dgm:pt>
    <dgm:pt modelId="{7C469872-3408-47EC-A951-EBD03EC6E711}" type="pres">
      <dgm:prSet presAssocID="{40B7ED16-2811-44AE-B08A-96D98006780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5FDE957-01DD-4472-82DB-055989B4D746}" type="presOf" srcId="{6A87515A-5362-4A6B-8654-7AB10417D46F}" destId="{F8CC9C99-A496-4CB0-8D47-40D6DA5E41DF}" srcOrd="0" destOrd="0" presId="urn:microsoft.com/office/officeart/2005/8/layout/vList2"/>
    <dgm:cxn modelId="{B74CD982-85FB-4CD1-A7DF-D5A730D7A9EF}" type="presOf" srcId="{40B7ED16-2811-44AE-B08A-96D980067803}" destId="{7C469872-3408-47EC-A951-EBD03EC6E711}" srcOrd="0" destOrd="0" presId="urn:microsoft.com/office/officeart/2005/8/layout/vList2"/>
    <dgm:cxn modelId="{623A1A87-39AC-46CC-86C0-4C824F6F76CF}" srcId="{6A87515A-5362-4A6B-8654-7AB10417D46F}" destId="{40B7ED16-2811-44AE-B08A-96D980067803}" srcOrd="0" destOrd="0" parTransId="{65FE3DA2-A8EA-4863-BBDC-2303F7A585E8}" sibTransId="{DD2829FD-7270-4907-83F3-5DCB66CD9627}"/>
    <dgm:cxn modelId="{4A4768E1-5991-4F87-B4F8-5A4BFB35663A}" type="presParOf" srcId="{F8CC9C99-A496-4CB0-8D47-40D6DA5E41DF}" destId="{7C469872-3408-47EC-A951-EBD03EC6E71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825658" cy="2677648"/>
        <a:chOff x="0" y="0"/>
        <a:chExt cx="8825658" cy="2677648"/>
      </a:xfrm>
    </dsp:grpSpPr>
    <dsp:sp modelId="{71E0694D-5797-4DE7-A953-9CA02ADFF4A7}">
      <dsp:nvSpPr>
        <dsp:cNvPr id="3" name="Rounded Rectangle 2"/>
        <dsp:cNvSpPr/>
      </dsp:nvSpPr>
      <dsp:spPr bwMode="white">
        <a:xfrm>
          <a:off x="0" y="9452"/>
          <a:ext cx="8825658" cy="265874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40029" tIns="240029" rIns="240029" bIns="240029" anchor="ctr"/>
        <a:lstStyle>
          <a:lvl1pPr algn="l">
            <a:defRPr sz="6300"/>
          </a:lvl1pPr>
          <a:lvl2pPr marL="285750" indent="-285750" algn="l">
            <a:defRPr sz="4900"/>
          </a:lvl2pPr>
          <a:lvl3pPr marL="571500" indent="-285750" algn="l">
            <a:defRPr sz="4900"/>
          </a:lvl3pPr>
          <a:lvl4pPr marL="857250" indent="-285750" algn="l">
            <a:defRPr sz="4900"/>
          </a:lvl4pPr>
          <a:lvl5pPr marL="1143000" indent="-285750" algn="l">
            <a:defRPr sz="4900"/>
          </a:lvl5pPr>
          <a:lvl6pPr marL="1428750" indent="-285750" algn="l">
            <a:defRPr sz="4900"/>
          </a:lvl6pPr>
          <a:lvl7pPr marL="1714500" indent="-285750" algn="l">
            <a:defRPr sz="4900"/>
          </a:lvl7pPr>
          <a:lvl8pPr marL="2000250" indent="-285750" algn="l">
            <a:defRPr sz="4900"/>
          </a:lvl8pPr>
          <a:lvl9pPr marL="2286000" indent="-285750" algn="l">
            <a:defRPr sz="49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0" i="0" dirty="0" smtClean="0"/>
            <a:t>NAKUJA 4 SOLID PROPULSION TEAM</a:t>
          </a:r>
          <a:endParaRPr lang="en-US" dirty="0"/>
        </a:p>
      </dsp:txBody>
      <dsp:txXfrm>
        <a:off x="0" y="9452"/>
        <a:ext cx="8825658" cy="26587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825658" cy="861420"/>
        <a:chOff x="0" y="0"/>
        <a:chExt cx="8825658" cy="861420"/>
      </a:xfrm>
    </dsp:grpSpPr>
    <dsp:sp modelId="{7C469872-3408-47EC-A951-EBD03EC6E711}">
      <dsp:nvSpPr>
        <dsp:cNvPr id="3" name="Rounded Rectangle 2"/>
        <dsp:cNvSpPr/>
      </dsp:nvSpPr>
      <dsp:spPr bwMode="white">
        <a:xfrm>
          <a:off x="0" y="497"/>
          <a:ext cx="8825658" cy="86042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29539" tIns="129539" rIns="129539" bIns="129539" anchor="ctr"/>
        <a:lstStyle>
          <a:lvl1pPr algn="l">
            <a:defRPr sz="3400"/>
          </a:lvl1pPr>
          <a:lvl2pPr marL="228600" indent="-228600" algn="l">
            <a:defRPr sz="2600"/>
          </a:lvl2pPr>
          <a:lvl3pPr marL="457200" indent="-228600" algn="l">
            <a:defRPr sz="2600"/>
          </a:lvl3pPr>
          <a:lvl4pPr marL="685800" indent="-228600" algn="l">
            <a:defRPr sz="2600"/>
          </a:lvl4pPr>
          <a:lvl5pPr marL="914400" indent="-228600" algn="l">
            <a:defRPr sz="2600"/>
          </a:lvl5pPr>
          <a:lvl6pPr marL="1143000" indent="-228600" algn="l">
            <a:defRPr sz="2600"/>
          </a:lvl6pPr>
          <a:lvl7pPr marL="1371600" indent="-228600" algn="l">
            <a:defRPr sz="2600"/>
          </a:lvl7pPr>
          <a:lvl8pPr marL="1600200" indent="-228600" algn="l">
            <a:defRPr sz="2600"/>
          </a:lvl8pPr>
          <a:lvl9pPr marL="1828800" indent="-228600" algn="l">
            <a:defRPr sz="26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0" i="0" dirty="0" smtClean="0"/>
            <a:t>WEEK 7 PROGRESS report</a:t>
          </a:r>
          <a:endParaRPr lang="en-US" dirty="0"/>
        </a:p>
      </dsp:txBody>
      <dsp:txXfrm>
        <a:off x="0" y="497"/>
        <a:ext cx="8825658" cy="8604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“</a:t>
            </a:r>
            <a:endParaRPr lang="en-US" sz="96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”</a:t>
            </a:r>
            <a:endParaRPr lang="en-US" sz="96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8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2.xml"/><Relationship Id="rId8" Type="http://schemas.openxmlformats.org/officeDocument/2006/relationships/diagramQuickStyle" Target="../diagrams/quickStyle2.xml"/><Relationship Id="rId7" Type="http://schemas.openxmlformats.org/officeDocument/2006/relationships/diagramLayout" Target="../diagrams/layout2.xml"/><Relationship Id="rId6" Type="http://schemas.openxmlformats.org/officeDocument/2006/relationships/diagramData" Target="../diagrams/data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1" Type="http://schemas.openxmlformats.org/officeDocument/2006/relationships/slideLayout" Target="../slideLayouts/slideLayout1.xml"/><Relationship Id="rId10" Type="http://schemas.microsoft.com/office/2007/relationships/diagramDrawing" Target="../diagrams/drawing2.xml"/><Relationship Id="rId1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1154955" y="2099733"/>
          <a:ext cx="8825658" cy="2677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5" name="Diagram 4"/>
          <p:cNvGraphicFramePr/>
          <p:nvPr/>
        </p:nvGraphicFramePr>
        <p:xfrm>
          <a:off x="1154955" y="4777380"/>
          <a:ext cx="8825658" cy="861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r>
              <a:rPr lang="en-US" dirty="0" smtClean="0"/>
              <a:t>7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r>
              <a:rPr lang="en-US" dirty="0" smtClean="0"/>
              <a:t>WEEK OBJECTIVES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761922" y="2570542"/>
          <a:ext cx="7612468" cy="3764044"/>
        </p:xfrm>
        <a:graphic>
          <a:graphicData uri="http://schemas.openxmlformats.org/drawingml/2006/table">
            <a:tbl>
              <a:tblPr/>
              <a:tblGrid>
                <a:gridCol w="3806234"/>
                <a:gridCol w="3806234"/>
              </a:tblGrid>
              <a:tr h="317795">
                <a:tc>
                  <a:txBody>
                    <a:bodyPr/>
                    <a:lstStyle/>
                    <a:p>
                      <a:r>
                        <a:rPr lang="en-US" smtClean="0"/>
                        <a:t>Category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Task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4488">
                <a:tc>
                  <a:txBody>
                    <a:bodyPr/>
                    <a:lstStyle/>
                    <a:p>
                      <a:r>
                        <a:rPr lang="en-US" dirty="0" smtClean="0"/>
                        <a:t> Fabrication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- Completion of bulkheads - Nozzle fabrication - Core rod fabrication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6142">
                <a:tc>
                  <a:txBody>
                    <a:bodyPr/>
                    <a:lstStyle/>
                    <a:p>
                      <a:r>
                        <a:rPr lang="en-US" dirty="0" smtClean="0"/>
                        <a:t> Assembly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 Curing setup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6142">
                <a:tc>
                  <a:txBody>
                    <a:bodyPr/>
                    <a:lstStyle/>
                    <a:p>
                      <a:r>
                        <a:rPr lang="en-US" dirty="0" smtClean="0"/>
                        <a:t>Testing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- Test cooking (propellant process validation)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7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Task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61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7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Completion of bulkheads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2603500"/>
            <a:ext cx="8974773" cy="4254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Bulkheads </a:t>
            </a:r>
            <a:r>
              <a:rPr lang="en-US" dirty="0"/>
              <a:t>were completed and drilling is in progress to required </a:t>
            </a:r>
            <a:r>
              <a:rPr lang="en-US" dirty="0" smtClean="0"/>
              <a:t>specs</a:t>
            </a:r>
            <a:endParaRPr lang="it-IT" b="1" dirty="0" smtClean="0"/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endParaRPr lang="it-IT" b="1" dirty="0" smtClean="0"/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endParaRPr lang="it-IT" b="1" dirty="0" smtClean="0"/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endParaRPr lang="it-IT" b="1" dirty="0" smtClean="0"/>
          </a:p>
          <a:p>
            <a:pPr marL="0" indent="0">
              <a:buNone/>
            </a:pPr>
            <a:endParaRPr lang="it-IT" b="1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886" y="3228481"/>
            <a:ext cx="3046412" cy="3629378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9173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Nozzle fabrication</a:t>
            </a:r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3295988"/>
            <a:ext cx="484299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Nozzle fabrication is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the final stages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Machining of the outer profile is done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Throat shaping and finishing are still pending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track for completion early next week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923" y="2365331"/>
            <a:ext cx="6024721" cy="43741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Core rod fabrication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Core rods were cut to the correct diameter and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length</a:t>
            </a: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Designed to create central grain cavity during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casting</a:t>
            </a: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Threading is pending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which currently prevents casting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trials</a:t>
            </a: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Once threaded, rods will allow secure and repeatable alignment during pour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712" y="4619978"/>
            <a:ext cx="3781778" cy="2647244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2363482" y="5486400"/>
            <a:ext cx="3072119" cy="137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Curing setup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Simple curing fixtures were </a:t>
            </a:r>
            <a:r>
              <a:rPr lang="en-US" dirty="0" smtClean="0"/>
              <a:t>3D printed and procured </a:t>
            </a:r>
            <a:r>
              <a:rPr lang="en-US" dirty="0"/>
              <a:t>to align the casing and </a:t>
            </a:r>
            <a:r>
              <a:rPr lang="en-US" dirty="0" smtClean="0"/>
              <a:t>liner and hasten curing process.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11" y="3533422"/>
            <a:ext cx="2867378" cy="30769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924" y="3533422"/>
            <a:ext cx="3375378" cy="332457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161" y="3604330"/>
            <a:ext cx="4308868" cy="29351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Bulk head - drilling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3572986"/>
            <a:ext cx="827983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Drilling was performed after machining to ensure accurate bolt hole positioning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Hole layout matched motor casing and nozzle bolt pattern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 concentric alignment for sealing and structural integrity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HAVE A GREAT WEEKEND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901244"/>
            <a:ext cx="9388868" cy="31185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  </a:t>
            </a:r>
            <a:r>
              <a:rPr lang="en-US" sz="7200" b="1" dirty="0" smtClean="0">
                <a:solidFill>
                  <a:schemeClr val="accent5">
                    <a:lumMod val="75000"/>
                  </a:schemeClr>
                </a:solidFill>
              </a:rPr>
              <a:t>THANK YOU</a:t>
            </a:r>
            <a:endParaRPr lang="en-US" sz="72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1124</Words>
  <Application>WPS Presentation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Wingdings 3</vt:lpstr>
      <vt:lpstr>Symbol</vt:lpstr>
      <vt:lpstr>Arial</vt:lpstr>
      <vt:lpstr>Century Gothic</vt:lpstr>
      <vt:lpstr>Microsoft YaHei</vt:lpstr>
      <vt:lpstr>Arial Unicode MS</vt:lpstr>
      <vt:lpstr>Calibri</vt:lpstr>
      <vt:lpstr>Ion Boardroom</vt:lpstr>
      <vt:lpstr>PowerPoint 演示文稿</vt:lpstr>
      <vt:lpstr>  7th WEEK OBJECTIVES</vt:lpstr>
      <vt:lpstr>Completion of bulkheads</vt:lpstr>
      <vt:lpstr>Nozzle fabrication</vt:lpstr>
      <vt:lpstr>Core rod fabrication</vt:lpstr>
      <vt:lpstr>Curing setup</vt:lpstr>
      <vt:lpstr>Bulk head - drilling</vt:lpstr>
      <vt:lpstr>PowerPoint 演示文稿</vt:lpstr>
      <vt:lpstr>HAVE A GREAT WEEKEND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NAKUJA 4 SOLID PROPULSION TEAM</dc:title>
  <dc:creator>MUTHUI WA MWANGI</dc:creator>
  <cp:lastModifiedBy>Mimi</cp:lastModifiedBy>
  <cp:revision>40</cp:revision>
  <dcterms:created xsi:type="dcterms:W3CDTF">2025-07-04T06:52:00Z</dcterms:created>
  <dcterms:modified xsi:type="dcterms:W3CDTF">2025-07-18T12:21:12Z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9CD72811C72E4444BE4B8AF72596DDA1_13</vt:lpwstr>
  </property>
  <property fmtid="{D5CDD505-2E9C-101B-9397-08002B2CF9AE}" pid="3" name="KSOProductBuildVer">
    <vt:lpwstr>1033-12.2.0.21931</vt:lpwstr>
  </property>
</Properties>
</file>